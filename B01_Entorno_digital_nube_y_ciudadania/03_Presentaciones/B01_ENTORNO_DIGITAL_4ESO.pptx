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e4d7e53c484177" /><Relationship Type="http://schemas.openxmlformats.org/officeDocument/2006/relationships/extended-properties" Target="/docProps/app.xml" Id="Rb87c4e91be584bf7" /><Relationship Type="http://schemas.openxmlformats.org/officeDocument/2006/relationships/officeDocument" Target="/ppt/presentation.xml" Id="R4f036f73f7c242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e9a2947594496b"/>
  </p:sldMasterIdLst>
  <p:notesMasterIdLst>
    <p:notesMasterId xmlns:r="http://schemas.openxmlformats.org/officeDocument/2006/relationships" r:id="Rc895d8d38f024e78"/>
  </p:notesMasterIdLst>
  <p:sldIdLst>
    <p:sldId xmlns:r="http://schemas.openxmlformats.org/officeDocument/2006/relationships" id="256" r:id="R47365005c9e64481"/>
    <p:sldId xmlns:r="http://schemas.openxmlformats.org/officeDocument/2006/relationships" id="257" r:id="R4a9e979afc9d4d35"/>
    <p:sldId xmlns:r="http://schemas.openxmlformats.org/officeDocument/2006/relationships" id="258" r:id="Ra39a162b47dd46b1"/>
    <p:sldId xmlns:r="http://schemas.openxmlformats.org/officeDocument/2006/relationships" id="259" r:id="Rfeea19b9d35642a8"/>
    <p:sldId xmlns:r="http://schemas.openxmlformats.org/officeDocument/2006/relationships" id="260" r:id="R237bbf87616b464e"/>
    <p:sldId xmlns:r="http://schemas.openxmlformats.org/officeDocument/2006/relationships" id="261" r:id="R7742ade8a4314ab7"/>
    <p:sldId xmlns:r="http://schemas.openxmlformats.org/officeDocument/2006/relationships" id="262" r:id="Rd188194599854707"/>
    <p:sldId xmlns:r="http://schemas.openxmlformats.org/officeDocument/2006/relationships" id="263" r:id="R12d363cda7574e18"/>
    <p:sldId xmlns:r="http://schemas.openxmlformats.org/officeDocument/2006/relationships" id="264" r:id="R2cbe164643234a9c"/>
    <p:sldId xmlns:r="http://schemas.openxmlformats.org/officeDocument/2006/relationships" id="265" r:id="Rd2d90916b0cd4288"/>
    <p:sldId xmlns:r="http://schemas.openxmlformats.org/officeDocument/2006/relationships" id="266" r:id="Ra63b85fc19934f53"/>
    <p:sldId xmlns:r="http://schemas.openxmlformats.org/officeDocument/2006/relationships" id="267" r:id="R8626da5543b44d27"/>
    <p:sldId xmlns:r="http://schemas.openxmlformats.org/officeDocument/2006/relationships" id="268" r:id="R71c9ef13c3de499e"/>
    <p:sldId xmlns:r="http://schemas.openxmlformats.org/officeDocument/2006/relationships" id="269" r:id="Rf8940fc2da1c41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39f32b6fdd4a24" /><Relationship Type="http://schemas.openxmlformats.org/officeDocument/2006/relationships/slideMaster" Target="/ppt/slideMasters/slideMaster1.xml" Id="R4ae9a2947594496b" /><Relationship Type="http://schemas.openxmlformats.org/officeDocument/2006/relationships/notesMaster" Target="/ppt/notesMasters/notesMaster1.xml" Id="Rc895d8d38f024e78" /><Relationship Type="http://schemas.openxmlformats.org/officeDocument/2006/relationships/presProps" Target="/ppt/presProps.xml" Id="R2c91eabbd6dc4737" /><Relationship Type="http://schemas.openxmlformats.org/officeDocument/2006/relationships/viewProps" Target="/ppt/viewProps.xml" Id="R23a415b3e7da41ba" /><Relationship Type="http://schemas.openxmlformats.org/officeDocument/2006/relationships/tableStyles" Target="/ppt/tableStyles.xml" Id="R252546b46ec3418f" /><Relationship Type="http://schemas.openxmlformats.org/officeDocument/2006/relationships/slide" Target="/ppt/slides/slide1.xml" Id="R47365005c9e64481" /><Relationship Type="http://schemas.openxmlformats.org/officeDocument/2006/relationships/slide" Target="/ppt/slides/slide2.xml" Id="R4a9e979afc9d4d35" /><Relationship Type="http://schemas.openxmlformats.org/officeDocument/2006/relationships/slide" Target="/ppt/slides/slide3.xml" Id="Ra39a162b47dd46b1" /><Relationship Type="http://schemas.openxmlformats.org/officeDocument/2006/relationships/slide" Target="/ppt/slides/slide4.xml" Id="Rfeea19b9d35642a8" /><Relationship Type="http://schemas.openxmlformats.org/officeDocument/2006/relationships/slide" Target="/ppt/slides/slide5.xml" Id="R237bbf87616b464e" /><Relationship Type="http://schemas.openxmlformats.org/officeDocument/2006/relationships/slide" Target="/ppt/slides/slide6.xml" Id="R7742ade8a4314ab7" /><Relationship Type="http://schemas.openxmlformats.org/officeDocument/2006/relationships/slide" Target="/ppt/slides/slide7.xml" Id="Rd188194599854707" /><Relationship Type="http://schemas.openxmlformats.org/officeDocument/2006/relationships/slide" Target="/ppt/slides/slide8.xml" Id="R12d363cda7574e18" /><Relationship Type="http://schemas.openxmlformats.org/officeDocument/2006/relationships/slide" Target="/ppt/slides/slide9.xml" Id="R2cbe164643234a9c" /><Relationship Type="http://schemas.openxmlformats.org/officeDocument/2006/relationships/slide" Target="/ppt/slides/slide10.xml" Id="Rd2d90916b0cd4288" /><Relationship Type="http://schemas.openxmlformats.org/officeDocument/2006/relationships/slide" Target="/ppt/slides/slide11.xml" Id="Ra63b85fc19934f53" /><Relationship Type="http://schemas.openxmlformats.org/officeDocument/2006/relationships/slide" Target="/ppt/slides/slide12.xml" Id="R8626da5543b44d27" /><Relationship Type="http://schemas.openxmlformats.org/officeDocument/2006/relationships/slide" Target="/ppt/slides/slide13.xml" Id="R71c9ef13c3de499e" /><Relationship Type="http://schemas.openxmlformats.org/officeDocument/2006/relationships/slide" Target="/ppt/slides/slide14.xml" Id="Rf8940fc2da1c41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1334ce981a43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844b7049654dcb" /><Relationship Type="http://schemas.openxmlformats.org/officeDocument/2006/relationships/notesMaster" Target="/ppt/notesMasters/notesMaster1.xml" Id="R70fa4fdbc5b541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ffd252984740d9" /><Relationship Type="http://schemas.openxmlformats.org/officeDocument/2006/relationships/notesMaster" Target="/ppt/notesMasters/notesMaster1.xml" Id="Rd66c219a49014d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3ba3c7deb0472e" /><Relationship Type="http://schemas.openxmlformats.org/officeDocument/2006/relationships/notesMaster" Target="/ppt/notesMasters/notesMaster1.xml" Id="R9ae91a50dd3646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26a836afa245c0" /><Relationship Type="http://schemas.openxmlformats.org/officeDocument/2006/relationships/notesMaster" Target="/ppt/notesMasters/notesMaster1.xml" Id="R3a873cffde9b4b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e3fa8d3bf54069" /><Relationship Type="http://schemas.openxmlformats.org/officeDocument/2006/relationships/notesMaster" Target="/ppt/notesMasters/notesMaster1.xml" Id="R968777f19d0f46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d8b6e4a1f64de3" /><Relationship Type="http://schemas.openxmlformats.org/officeDocument/2006/relationships/notesMaster" Target="/ppt/notesMasters/notesMaster1.xml" Id="R8f7e1186a21748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f8e2005ef2406c" /><Relationship Type="http://schemas.openxmlformats.org/officeDocument/2006/relationships/notesMaster" Target="/ppt/notesMasters/notesMaster1.xml" Id="Rd71b1ba0f8544d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87d29bf8d94c0a" /><Relationship Type="http://schemas.openxmlformats.org/officeDocument/2006/relationships/notesMaster" Target="/ppt/notesMasters/notesMaster1.xml" Id="R25124ce9227841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41b20f32934cbd" /><Relationship Type="http://schemas.openxmlformats.org/officeDocument/2006/relationships/notesMaster" Target="/ppt/notesMasters/notesMaster1.xml" Id="R35dc9e1022e142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25b300182e4bd0" /><Relationship Type="http://schemas.openxmlformats.org/officeDocument/2006/relationships/notesMaster" Target="/ppt/notesMasters/notesMaster1.xml" Id="Rf3d77feeb6e541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eef9398c344d70" /><Relationship Type="http://schemas.openxmlformats.org/officeDocument/2006/relationships/notesMaster" Target="/ppt/notesMasters/notesMaster1.xml" Id="R19fe8a12c3264a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4e7848ac264b59" /><Relationship Type="http://schemas.openxmlformats.org/officeDocument/2006/relationships/notesMaster" Target="/ppt/notesMasters/notesMaster1.xml" Id="R58b14cac8f794c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8088bb666040a9" /><Relationship Type="http://schemas.openxmlformats.org/officeDocument/2006/relationships/notesMaster" Target="/ppt/notesMasters/notesMaster1.xml" Id="R10cc834c9d4b47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fedf162a3b4129" /><Relationship Type="http://schemas.openxmlformats.org/officeDocument/2006/relationships/notesMaster" Target="/ppt/notesMasters/notesMaster1.xml" Id="R5531e95d837648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Imagen de portada generada para esta presentación con OpenAI ImageGen (2026).</a:t>
            </a:r>
          </a:p>
          <a:p xmlns:a="http://schemas.openxmlformats.org/drawingml/2006/main">
            <a:r>
              <a:t>- Sistemes Informàtics 25-26_Presentacio.pdf (material docente de referencia aportado por el usuario).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apartados 1–3 (competencias y resultados de aprendizaje).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temporalización: 160 h.</a:t>
            </a:r>
          </a:p>
          <a:p xmlns:a="http://schemas.openxmlformats.org/drawingml/2006/main">
            <a:r>
              <a:t>- HORARIS 26-27 - 0720_MOLINA,DAVID.pdf: SI de 1.º DAM, 5 sesiones de 55 min = 275 min = 4 h 35 min semanales.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HORARIS 26-27 - 0720_MOLINA,DAVID.pdf: horario oficial de SI, grupo CS.DAM-1, aula C-1-2.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apartados 3 y 4 (unidades y temporalización).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 5 (material y metodología).</a:t>
            </a:r>
          </a:p>
          <a:p xmlns:a="http://schemas.openxmlformats.org/drawingml/2006/main">
            <a:r>
              <a:t>- Sistemes Informàtics 25-26_Presentacio.pdf, diapositivas 14 y 20 (documentación y evidencias).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 5.1 (software previsto).</a:t>
            </a:r>
          </a:p>
          <a:p xmlns:a="http://schemas.openxmlformats.org/drawingml/2006/main">
            <a:r>
              <a:t>- Ilustración propia de placa base creada para los materiales de UD1 con OpenAI ImageGen (2026).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9 (ponderación 70/30).</a:t>
            </a:r>
          </a:p>
          <a:p xmlns:a="http://schemas.openxmlformats.org/drawingml/2006/main">
            <a:r>
              <a:t>- Guia_didactica_25_26.pdf, apartado 6 (evaluación y obligatoriedad de prácticas).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9 (mínimos y requisitos).</a:t>
            </a:r>
          </a:p>
          <a:p xmlns:a="http://schemas.openxmlformats.org/drawingml/2006/main">
            <a:r>
              <a:t>- Guia_didactica_25_26.pdf, apartado 6 (evaluación ordinaria y extraordinaria).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16 (normas de aula, RGPD, plagio y uso de IA).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19 (actividad de la primera semana).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Web docente del módulo: https://davidmolinafernadez.github.io/DAM-SI/</a:t>
            </a:r>
          </a:p>
          <a:p xmlns:a="http://schemas.openxmlformats.org/drawingml/2006/main">
            <a:r>
              <a:t>- Sistemes Informàtics 25-26_Presentacio.pdf, diapositiva 21 (canales de contacto).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11e8ea8744a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3a5c6012f04a80" /><Relationship Type="http://schemas.openxmlformats.org/officeDocument/2006/relationships/slideLayout" Target="/ppt/slideLayouts/slideLayout1.xml" Id="Reafe664f80b64a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fe664f80b64a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89591ef3c45be" /><Relationship Type="http://schemas.openxmlformats.org/officeDocument/2006/relationships/image" Target="/ppt/media/image.png" Id="R86e52fc1eb264d10" /><Relationship Type="http://schemas.openxmlformats.org/officeDocument/2006/relationships/notesSlide" Target="/ppt/notesSlides/notesSlide1.xml" Id="R920c04e7b4d047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5162b3c26498c" /><Relationship Type="http://schemas.openxmlformats.org/officeDocument/2006/relationships/notesSlide" Target="/ppt/notesSlides/notesSlide2.xml" Id="R7fc876526c3042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b14bc26614a66" /><Relationship Type="http://schemas.openxmlformats.org/officeDocument/2006/relationships/notesSlide" Target="/ppt/notesSlides/notesSlide3.xml" Id="R19d8e80bccc347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0cdbf6872436a" /><Relationship Type="http://schemas.openxmlformats.org/officeDocument/2006/relationships/notesSlide" Target="/ppt/notesSlides/notesSlide4.xml" Id="Rd1cb85d053f645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b35c61b534d3f" /><Relationship Type="http://schemas.openxmlformats.org/officeDocument/2006/relationships/notesSlide" Target="/ppt/notesSlides/notesSlide5.xml" Id="Rdad304220d0049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94c4292754e7a" /><Relationship Type="http://schemas.openxmlformats.org/officeDocument/2006/relationships/notesSlide" Target="/ppt/notesSlides/notesSlide6.xml" Id="R5d0ac9d14c494d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0d4a1055b4318" /><Relationship Type="http://schemas.openxmlformats.org/officeDocument/2006/relationships/image" Target="/ppt/media/image2.png" Id="R17c22bfed33049c1" /><Relationship Type="http://schemas.openxmlformats.org/officeDocument/2006/relationships/notesSlide" Target="/ppt/notesSlides/notesSlide7.xml" Id="Rce6ff54613834a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cabcdaa654bae" /><Relationship Type="http://schemas.openxmlformats.org/officeDocument/2006/relationships/notesSlide" Target="/ppt/notesSlides/notesSlide8.xml" Id="Reb6ee2113b954c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9481fdbcc4608" /><Relationship Type="http://schemas.openxmlformats.org/officeDocument/2006/relationships/notesSlide" Target="/ppt/notesSlides/notesSlide9.xml" Id="R1008a3c1f7c745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9680aac914022" /><Relationship Type="http://schemas.openxmlformats.org/officeDocument/2006/relationships/notesSlide" Target="/ppt/notesSlides/notesSlide10.xml" Id="R616c5a450d824e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b6e4860914b00" /><Relationship Type="http://schemas.openxmlformats.org/officeDocument/2006/relationships/notesSlide" Target="/ppt/notesSlides/notesSlide11.xml" Id="R829fcfba5f7444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03fe3347e40eb" /><Relationship Type="http://schemas.openxmlformats.org/officeDocument/2006/relationships/notesSlide" Target="/ppt/notesSlides/notesSlide12.xml" Id="Re83518355c034d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2297aef5b41de" /><Relationship Type="http://schemas.openxmlformats.org/officeDocument/2006/relationships/notesSlide" Target="/ppt/notesSlides/notesSlide13.xml" Id="Rbc58749d960e4c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0b57208ae4b37" /><Relationship Type="http://schemas.openxmlformats.org/officeDocument/2006/relationships/notesSlide" Target="/ppt/notesSlides/notesSlide14.xml" Id="Rbd4137932b5640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52fc1eb264d1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2B36EA8-CD59-44EB-82C8-84D0E89F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47957E7-3134-4D0A-B2FD-CB19C436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429CA0BD-E935-4192-B286-35100F06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ENTORNO DIGITAL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B99BE5C6-6172-489B-B9AA-34B3C15B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C7E8"/>
                </a:solidFill>
              </a:defRPr>
            </a:pPr>
            <a:r>
              <a:rPr sz="1950" b="1">
                <a:solidFill>
                  <a:srgbClr val="22C7E8"/>
                </a:solidFill>
              </a:rPr>
              <a:t>Organizar. Compartir. Proteger.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87F70-3010-4F70-AC9E-18AB8D3B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4.º ESO · Curso 2026–2027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E9DFE0B-39A1-4DB4-BD35-5AB9F848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9D7E4"/>
                </a:solidFill>
              </a:defRPr>
            </a:pPr>
            <a:r>
              <a:rPr sz="1350" b="0">
                <a:solidFill>
                  <a:srgbClr val="B9D7E4"/>
                </a:solidFill>
              </a:rPr>
              <a:t>Archivos · Nube · Fuentes · Ciudadanía digital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CCD6A63-BC52-4995-A57B-8651389E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D7E4"/>
                </a:solidFill>
              </a:defRPr>
            </a:pPr>
            <a:r>
              <a:rPr sz="1050" b="1">
                <a:solidFill>
                  <a:srgbClr val="B9D7E4"/>
                </a:solidFill>
              </a:rPr>
              <a:t>Bloque 1 · Presentación de aula</a:t>
            </a:r>
          </a:p>
        </p:txBody>
      </p:sp>
    </p:spTree>
    <p:extLst>
      <p:ext uri="{BB962C8B-B14F-4D97-AF65-F5344CB8AC3E}">
        <p14:creationId xmlns:p14="http://schemas.microsoft.com/office/powerpoint/2010/main" val="902921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4E2381E2-2598-4657-AEA2-55A70CF4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01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C9401F6-06D0-425D-82C9-91510D6C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Tu entorno digital también necesita un sistema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6B37101-5941-40F9-8F83-A91C80BB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Diseñarás un sistema de colaboración que otra persona pueda comprender y mantener.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B2D8E60-D17D-4644-8197-9AABD3FF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E6379D0-9DF4-4CAA-94F4-3A26927E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83BABFB-91D6-4A48-9E82-22BB105A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ADF0E45-3283-44DC-976D-1AFB23B9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ORGANIZAR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6BBF4F49-1583-484F-812F-C1200926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Diseñar una arquitectura escalable y justificar cada decisión.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8338BF1E-AD11-46B4-93BE-BAB9B66F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02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C7F4E541-3C3E-481C-BEA8-C9DC750B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D35AC19A-9D5D-42C5-9B9C-81379B38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COLABORAR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938AFB3B-0FBC-4507-8474-ED1C7945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Gestionar permisos, historial y conflictos de versión.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3557FAE-5A03-4018-936C-5F9E3431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03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BD8B667-6A14-43D0-A33D-54697E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73F829E3-8476-434A-BB74-F63DC40D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DECIDIR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848AAFC6-5283-47C0-BA7D-6B164016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Auditar fuentes, privacidad, licencias y huella digital.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9144CF91-587C-4AC2-A143-49C08FFF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A84C6"/>
                </a:solidFill>
              </a:defRPr>
            </a:pPr>
            <a:r>
              <a:rPr sz="1950" b="1">
                <a:solidFill>
                  <a:srgbClr val="0A84C6"/>
                </a:solidFill>
              </a:rPr>
              <a:t>Objetivo final: trabajar con orden, seguridad y criterio digital.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A5E4841-24F2-41A3-9422-7494CE61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4.º ESO · 2026–2027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0C5F944E-7A5B-4EDE-B624-5A2C7FB0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6931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0353EEA7-BA86-49E0-BE93-74DE174C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02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4ECC38E0-A7E6-4440-9B9E-CF126313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Seis sesiones para construir tu mochila digital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3C98144-0710-4C9E-844F-D020E08D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ECBCCF3C-A101-439A-847C-F65290B8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6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2137DE19-0588-4256-A4DF-29F9C721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sesiones de aula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3D536FC3-7CFF-4C95-AF94-F2EF6DC0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5A524"/>
                </a:solidFill>
              </a:defRPr>
            </a:pPr>
            <a:r>
              <a:rPr sz="3900" b="1">
                <a:solidFill>
                  <a:srgbClr val="F5A524"/>
                </a:solidFill>
              </a:rPr>
              <a:t>2 h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9E9B0A36-E9BD-49F8-9885-C39A2E57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por semana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C88987D1-9B7D-4C94-BB90-729A18DF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5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B8DE405-0E89-4193-AA34-5CF42643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evidencias clave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9A3D6D49-ED8B-4183-93E3-A2817F96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4.º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D2D8FEDE-DDCA-47EA-9E7F-0E2BF322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curso de ESO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0F91D425-C58D-443C-8C2D-E959031B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63AA1EA-43E6-4F30-B6A6-9AF046E5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B9D7E4"/>
                </a:solidFill>
              </a:defRPr>
            </a:pPr>
            <a:r>
              <a:rPr sz="1800" b="0">
                <a:solidFill>
                  <a:srgbClr val="B9D7E4"/>
                </a:solidFill>
              </a:rPr>
              <a:t>Cada sesión combina explicación breve, práctica guiada y una mejora visible del portfolio.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F3EC6B3-6A06-4B24-8216-DCA8403F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ESO Informática · 4.º ESO · 2026–2027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472F4C2A-9A8C-46F6-A0D8-C2433A82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9217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723E0F86-E8F9-4D02-A052-16E4F870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03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8DE95E0B-9F06-4291-A2D2-B8ADCD13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Dos horas semanales: aprender haciendo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2AF935F-6CA2-4DE2-BB09-5C92EC2B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Cada sesión deja una evidencia que podrás reutilizar durante el curso.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C9A8201-03FB-4371-82E8-40875595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E3323DED-1E8C-4D59-B0F8-F637B5A4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84C6"/>
                </a:solidFill>
              </a:defRPr>
            </a:pPr>
            <a:r>
              <a:rPr sz="1650" b="1">
                <a:solidFill>
                  <a:srgbClr val="0A84C6"/>
                </a:solidFill>
              </a:rPr>
              <a:t>SESIÓN 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820899A1-5D0B-47F5-BAD3-10123092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63A"/>
                </a:solidFill>
              </a:defRPr>
            </a:pPr>
            <a:r>
              <a:rPr sz="1725" b="1">
                <a:solidFill>
                  <a:srgbClr val="10263A"/>
                </a:solidFill>
              </a:rPr>
              <a:t>Diagnóstico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0E79444A-E76F-4B65-8D2C-A58EC23F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76475"/>
            <a:ext cx="3381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DDC235A-EB2B-43FB-8CED-D49BBB7A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63A"/>
                </a:solidFill>
              </a:defRPr>
            </a:pPr>
            <a:r>
              <a:rPr sz="1725" b="1">
                <a:solidFill>
                  <a:srgbClr val="10263A"/>
                </a:solidFill>
              </a:rPr>
              <a:t>y organización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4967B05-E808-4D7F-AE0E-85399B14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955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reto inicial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906723D6-EA7C-4AB3-8096-C5DAF6CE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6B37B"/>
                </a:solidFill>
              </a:defRPr>
            </a:pPr>
            <a:r>
              <a:rPr sz="1650" b="1">
                <a:solidFill>
                  <a:srgbClr val="46B37B"/>
                </a:solidFill>
              </a:rPr>
              <a:t>SESIÓN 2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2A7FDFB-2DC7-496A-8D62-CA2C3DEE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Archivos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D8E4747-2779-44E4-8A90-67A5D16F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95675"/>
            <a:ext cx="3381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99C1685-D9DF-4614-9FB4-C9DE875A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14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y versiones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2DAB7E50-CA0E-4990-A7CA-CFE46293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147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55 min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F3FCEDD-48B3-4A87-8550-8F4A5F5F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A524"/>
                </a:solidFill>
              </a:defRPr>
            </a:pPr>
            <a:r>
              <a:rPr sz="1650" b="1">
                <a:solidFill>
                  <a:srgbClr val="F5A524"/>
                </a:solidFill>
              </a:rPr>
              <a:t>SESIÓN 3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096BAEB7-61F7-4EB1-9A4A-2605B254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Nube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C1ED74DE-A1AC-4340-9D7A-24934515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14875"/>
            <a:ext cx="3381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E178D18-FCB1-4D6D-BD71-BDE34483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y permisos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E41E167E-A170-4AC8-A9C5-5B5BF18B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5339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55 min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83FF724F-7FC2-42AF-BCE0-79C059AF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57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0A84C6"/>
                </a:solidFill>
              </a:defRPr>
            </a:pPr>
            <a:r>
              <a:rPr sz="1725" b="1">
                <a:solidFill>
                  <a:srgbClr val="0A84C6"/>
                </a:solidFill>
              </a:rPr>
              <a:t>SESIÓN 4–6 · Fuentes, ciudadanía y portfolio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90A4922F-C56E-486F-9AC7-7865BFEB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4.º ESO · 2026–2027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B1422F09-0375-4C9D-BD6C-78FA837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7995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Rectángulo 47">
            <a:extLst xmlns:a="http://schemas.openxmlformats.org/drawingml/2006/main">
              <a:ext uri="{FF2B5EF4-FFF2-40B4-BE49-F238E27FC236}">
                <a16:creationId xmlns:a16="http://schemas.microsoft.com/office/drawing/2014/main" id="{915A6860-7B44-4C4A-A340-0D4B464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04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73223C4B-6830-43B5-A214-9E416273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El bloque avanza del caos a un sistema fiable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2EEAC1E-D8C7-4134-8574-879B772F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Cada paso añade una capa de autonomía digital.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531A8E8-5C1C-4222-82D8-AE631C6B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178D6926-2D5C-418F-8660-F595979E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C1BC2A1-0F0B-4F82-A7BD-A3885D84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8E78238A-335B-4A0B-A80F-811C710A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80678CA-7AA5-40C2-902C-0F5DE462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Diagnóstico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994500A6-5B5B-47C7-824C-6FF25380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Inicio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422C8E44-74B2-43B0-8A6F-05E810D8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A677AA4C-92B8-4592-992E-5E6DCBA7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875FA003-A262-46BA-A132-757136B5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84C6"/>
                </a:solidFill>
              </a:defRPr>
            </a:pPr>
            <a:r>
              <a:rPr sz="1350" b="1">
                <a:solidFill>
                  <a:srgbClr val="0A84C6"/>
                </a:solidFill>
              </a:rPr>
              <a:t>02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2BCA2868-B92E-47C3-A56F-AC0E11DC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Carpetas y nombres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AF01D233-C8B0-4AB5-8221-C4B8BEE5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Orden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DDD5DCD8-2FD1-493B-856E-E6AD3F6F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59B2619-4B71-4454-8DD1-C3B9ED0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6CC1D400-6110-40B2-A274-44858F57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C7E8"/>
                </a:solidFill>
              </a:defRPr>
            </a:pPr>
            <a:r>
              <a:rPr sz="1350" b="1">
                <a:solidFill>
                  <a:srgbClr val="22C7E8"/>
                </a:solidFill>
              </a:rPr>
              <a:t>03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91F3BE1-95CA-499D-96FF-25C43B2B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Versiones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995D0418-2053-45C9-B496-29DB91F5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Control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9A96F713-47E0-4EB4-9938-95A48659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6D64907B-4EC4-49E6-84F3-D13B07DF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CA67E6FA-0C39-4E71-AE57-EC41E8A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6B37B"/>
                </a:solidFill>
              </a:defRPr>
            </a:pPr>
            <a:r>
              <a:rPr sz="1350" b="1">
                <a:solidFill>
                  <a:srgbClr val="46B37B"/>
                </a:solidFill>
              </a:rPr>
              <a:t>04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7F2D5839-A3E0-4133-B609-A8FC4D1B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Nube y permisos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C2735DC8-CB7B-4526-8091-AB47FD33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Colaborar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D06EB8EF-6178-4819-9AE4-F4852D36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6593761F-DD3F-4A05-A03E-758A3F16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DFE4E8E9-2623-4460-8748-0B110287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84C6"/>
                </a:solidFill>
              </a:defRPr>
            </a:pPr>
            <a:r>
              <a:rPr sz="1350" b="1">
                <a:solidFill>
                  <a:srgbClr val="0A84C6"/>
                </a:solidFill>
              </a:rPr>
              <a:t>05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708A7108-AAB4-439B-B4BE-68E04AF0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Fuentes fiables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BD1B7358-F175-4ABC-8EB6-F69AE3BA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Verificar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280A81F0-30FA-4CC0-B2D9-CF168456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9FF5B406-A04F-4B66-807B-0453E606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806F4BDD-9800-4921-8796-FB2AB080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06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CC9CBF58-0836-4210-9247-C463F126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Ciudadanía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D9D29868-30EF-4EC6-83D8-EE316F49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Convivir</a:t>
            </a:r>
          </a:p>
        </p:txBody>
      </p:sp>
      <p:sp>
        <p:nvSpPr>
          <p:cNvPr id="35" name="Rectángulo: esquinas redondeadas 34">
            <a:extLst xmlns:a="http://schemas.openxmlformats.org/drawingml/2006/main">
              <a:ext uri="{FF2B5EF4-FFF2-40B4-BE49-F238E27FC236}">
                <a16:creationId xmlns:a16="http://schemas.microsoft.com/office/drawing/2014/main" id="{53009763-56E3-472E-B609-FE6273EB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90C78985-5C02-4530-836E-1F38F1B3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F01A436C-4B6E-49A8-9B0D-AEDB6293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07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545A7A35-624B-487E-96F9-0551CD8F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Portfolio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13EF7A6-C6BC-4425-AB66-361D34A6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Mostrar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5169C20F-4689-49DE-91A1-FB1EE650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84C6"/>
                </a:solidFill>
              </a:defRPr>
            </a:pPr>
            <a:r>
              <a:rPr sz="1650" b="1">
                <a:solidFill>
                  <a:srgbClr val="0A84C6"/>
                </a:solidFill>
              </a:rPr>
              <a:t>1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8A95AA03-CB6C-450F-B7DC-24E01A9E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86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6B37B"/>
                </a:solidFill>
              </a:defRPr>
            </a:pPr>
            <a:r>
              <a:rPr sz="1650" b="1">
                <a:solidFill>
                  <a:srgbClr val="46B37B"/>
                </a:solidFill>
              </a:rPr>
              <a:t>2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F020ADD9-5AB7-414B-8E52-3E457DDF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86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5A524"/>
                </a:solidFill>
              </a:defRPr>
            </a:pPr>
            <a:r>
              <a:rPr sz="1650" b="1">
                <a:solidFill>
                  <a:srgbClr val="F5A524"/>
                </a:solidFill>
              </a:rPr>
              <a:t>3</a:t>
            </a:r>
          </a:p>
        </p:txBody>
      </p:sp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3E088245-E25F-4B97-B700-9F80F075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Preparar</a:t>
            </a:r>
          </a:p>
        </p:txBody>
      </p:sp>
      <p:sp>
        <p:nvSpPr>
          <p:cNvPr id="44" name="Rectángulo 43">
            <a:extLst xmlns:a="http://schemas.openxmlformats.org/drawingml/2006/main">
              <a:ext uri="{FF2B5EF4-FFF2-40B4-BE49-F238E27FC236}">
                <a16:creationId xmlns:a16="http://schemas.microsoft.com/office/drawing/2014/main" id="{1B923CBC-4775-410F-90DD-769A5E6C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67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Construir</a:t>
            </a:r>
          </a:p>
        </p:txBody>
      </p:sp>
      <p:sp>
        <p:nvSpPr>
          <p:cNvPr id="45" name="Rectángulo 44">
            <a:extLst xmlns:a="http://schemas.openxmlformats.org/drawingml/2006/main">
              <a:ext uri="{FF2B5EF4-FFF2-40B4-BE49-F238E27FC236}">
                <a16:creationId xmlns:a16="http://schemas.microsoft.com/office/drawing/2014/main" id="{368AE17A-2781-40DD-A774-BA0BE274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6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Entregar</a:t>
            </a:r>
          </a:p>
        </p:txBody>
      </p:sp>
      <p:sp>
        <p:nvSpPr>
          <p:cNvPr id="46" name="Rectángulo 45">
            <a:extLst xmlns:a="http://schemas.openxmlformats.org/drawingml/2006/main">
              <a:ext uri="{FF2B5EF4-FFF2-40B4-BE49-F238E27FC236}">
                <a16:creationId xmlns:a16="http://schemas.microsoft.com/office/drawing/2014/main" id="{644E44CC-E80F-49A6-9A6A-2E92091A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4.º ESO · 2026–2027</a:t>
            </a:r>
          </a:p>
        </p:txBody>
      </p:sp>
      <p:sp>
        <p:nvSpPr>
          <p:cNvPr id="47" name="Rectángulo 46">
            <a:extLst xmlns:a="http://schemas.openxmlformats.org/drawingml/2006/main">
              <a:ext uri="{FF2B5EF4-FFF2-40B4-BE49-F238E27FC236}">
                <a16:creationId xmlns:a16="http://schemas.microsoft.com/office/drawing/2014/main" id="{C31946A1-F21D-48A9-A44D-13DA6F0B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0302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9842A0C3-34DD-40C8-A97E-0476573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05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EA50DF9C-1E22-4684-8D84-572AD7F5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Aprenderemos mejorando un entorno digital real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9BEF98E-6BC3-4024-9F70-3A74728A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La teoría abre el camino; las evidencias demuestran que el sistema funciona.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E5DCA9E-9776-4A52-B43B-92972214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E29AD18B-5901-49E9-8FEA-4CF91CE9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512B042-615C-4CAA-BF88-78286A2D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583A8E59-436A-4537-A690-0202EA6E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5955DE8C-9E4D-4527-A864-7F3CA642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OBSERVAR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884CA03-6D84-4E4A-B82F-262409CC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Detectar el desorden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994BCFB4-B30C-47D5-A635-07D41211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96B4987-6D82-40B2-AD10-B44C2EBF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C939C591-334E-4D9A-9636-5C7398E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4497C695-B168-43DF-93ED-057C969D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ORGANIZAR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4B7D0D14-C9CC-4D0C-BA92-7C4204BD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Aplicar una estructura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278D4013-44E1-40CA-A36B-2CBB9CAA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9D9CF43-B453-46DD-ABBE-B118851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AD70E8D-4C3E-4D92-BC57-FD5D90FD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4CE0A6CB-5FA8-4C44-B02A-8AB34C98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COMPARTIR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6990F18-A354-4D37-ADA2-1E5A7C91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Elegir permisos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E2E607E4-5B5C-4802-9CB3-3F7F0ACF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711A0D10-3FBD-4F36-A5CF-BFC21538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38F4C9FF-17C9-4A6D-99EF-10948715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E6A71C4C-BE5E-476F-8B1E-FBA8CB9F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VERIFICAR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96EEECD3-7633-42FE-9453-92625347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Contrastar fuentes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AC08CD89-2872-4CF6-A162-3AA2BE02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EE99616E-34E0-47E5-8861-53F94984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3DA0591B-1727-4192-9580-129A7141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MEJORAR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A48AD4F-9AE0-47A7-BA22-5E4BD891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Revisar el portfolio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DA92D97C-A6F1-4DA0-8A02-AF8D9F9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A84C6"/>
                </a:solidFill>
              </a:defRPr>
            </a:pPr>
            <a:r>
              <a:rPr sz="2100" b="1">
                <a:solidFill>
                  <a:srgbClr val="0A84C6"/>
                </a:solidFill>
              </a:rPr>
              <a:t>Problema → decisión → prueba → evidencia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1E44F85C-7783-4AB2-B955-56510704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4.º ESO · 2026–2027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FB30A2D7-9312-4AFB-B9B8-4378BA9B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4184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FB3953C3-085E-4E99-984F-8E16B03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06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55B4B09-E574-425E-9619-BAA6EC44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Trabajaremos con herramientas sencillas y útiles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599614AD-56F7-4CC7-BD16-B2630EF6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22bfed33049c1"/>
          <a:stretch xmlns:a="http://schemas.openxmlformats.org/drawingml/2006/main"/>
        </p:blipFill>
        <p:spPr>
          <a:xfrm xmlns:a="http://schemas.openxmlformats.org/drawingml/2006/main">
            <a:off x="609600" y="2127250"/>
            <a:ext cx="5048250" cy="3365500"/>
          </a:xfrm>
          <a:prstGeom xmlns:a="http://schemas.openxmlformats.org/drawingml/2006/main" prst="rect">
            <a:avLst/>
          </a:prstGeom>
        </p:spPr>
      </p:pic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6682027A-E596-4761-A3CB-834D2919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Convenciones, versiones y recuperación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BC0736A-3ECB-4510-98F8-08D8546A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Carpetas, rutas y extensiones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41164B48-205C-4F4C-AB46-28E60EEB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AF230522-165F-44CC-916C-83091F5A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Historial, conflictos y permisos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D1A622CE-13DA-4A6C-AD04-3AEF821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Sincronización y permisos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6A8F59E9-D7A3-4608-8F49-4ABBA549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7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682CB1-1B03-40B6-8D03-1596C29C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Documentos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3EA5A419-FDEC-400D-81AE-C3751C69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Edición y comentarios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AA6C2EAE-EC1A-47B5-9DDF-24A72708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9F6274FE-09DF-44C1-A1BF-D68239B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Búsqueda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496B6042-7EC6-4351-A4E7-8C38006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Autoría, fecha y propósito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7448DDB-0165-4BF5-9485-A2425824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6C85377-AAE8-4B0C-83E4-9ACA70F8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A524"/>
                </a:solidFill>
              </a:defRPr>
            </a:pPr>
            <a:r>
              <a:rPr sz="1425" b="1">
                <a:solidFill>
                  <a:srgbClr val="F5A524"/>
                </a:solidFill>
              </a:rPr>
              <a:t>Portfolio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1606975-DBA7-41C2-AD27-449AA5EA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72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Evidencias y reflexión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E1B5BBDF-2514-4196-8E62-A2713DD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959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7CC5D419-261F-4CC5-9CD9-3D67368F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ESO Informática · 4.º ESO · 2026–2027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4B8CCB4-DA6F-4097-9A89-222D1DE9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84098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C2259E58-1B23-4864-AE8B-D83EC1F8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07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E4A0288-D17B-41E9-9C68-F2E9E66F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La evaluación valora el producto y cómo trabajas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38012F2-3BBD-4110-AED0-B0B7F74B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Debes demostrar que sabes organizar, compartir, verificar y explicar tus decisiones.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5DFDB26B-7755-4676-B1CE-92327A5D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3AB5D033-98AE-4A58-BFDA-F31AF71A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0A84C6"/>
                </a:solidFill>
              </a:defRPr>
            </a:pPr>
            <a:r>
              <a:rPr sz="5250" b="1">
                <a:solidFill>
                  <a:srgbClr val="0A84C6"/>
                </a:solidFill>
              </a:rPr>
              <a:t>60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6AD10AC4-BB95-47B7-B772-52BABFD2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A84C6"/>
                </a:solidFill>
              </a:defRPr>
            </a:pPr>
            <a:r>
              <a:rPr sz="2850" b="1">
                <a:solidFill>
                  <a:srgbClr val="0A84C6"/>
                </a:solidFill>
              </a:rPr>
              <a:t>%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CDA84965-7522-4B19-B281-448ACE43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F5A524"/>
                </a:solidFill>
              </a:defRPr>
            </a:pPr>
            <a:r>
              <a:rPr sz="5250" b="1">
                <a:solidFill>
                  <a:srgbClr val="F5A524"/>
                </a:solidFill>
              </a:rPr>
              <a:t>40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767D45D6-65B7-410E-A22B-7D49C23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57625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5A524"/>
                </a:solidFill>
              </a:defRPr>
            </a:pPr>
            <a:r>
              <a:rPr sz="2850" b="1">
                <a:solidFill>
                  <a:srgbClr val="F5A524"/>
                </a:solidFill>
              </a:rPr>
              <a:t>%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FB2F38B8-B10D-4A25-9C42-1F59231A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5B8C79D6-6BB9-4A1B-BD20-5D32E687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9200366-C4CF-481A-AE53-FE8F521E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Portfolio y práctica principal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036E052A-ACC1-43BC-874F-33CDC74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05E62021-B8E3-4508-A779-EE991E3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720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Proceso, fuentes y ciudadanía digital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D112C94A-89F7-49F2-AA77-62AC4962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863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45C5C"/>
                </a:solidFill>
              </a:defRPr>
            </a:pPr>
            <a:r>
              <a:rPr sz="1650" b="1">
                <a:solidFill>
                  <a:srgbClr val="E45C5C"/>
                </a:solidFill>
              </a:rPr>
              <a:t>Entregar evidencias es imprescindible.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E902D0B3-CC3F-4BAF-B7CD-E076F620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4.º ESO · 2026–2027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A168CB7-B4FD-4BBD-B834-F0B70B5F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9454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ECCB4A3C-7EDB-41B9-8197-305F7678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08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3029AB32-C71C-42FF-B71B-0674B039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Superar el bloque exige equilibrio y evidencias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5246026-32CC-4BC9-8720-A0C1FD71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Tres condiciones sencillas que conviene cuidar desde el primer día.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A9AF91D-B234-4E9D-BE0F-83E1A246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3B55AB90-FA28-405D-9D25-CC908334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0A84C6"/>
                </a:solidFill>
              </a:defRPr>
            </a:pPr>
            <a:r>
              <a:rPr sz="3900" b="1">
                <a:solidFill>
                  <a:srgbClr val="0A84C6"/>
                </a:solidFill>
              </a:rPr>
              <a:t>≥ 10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47DB8830-D175-4D24-A8EF-5165480F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CB19EAE9-74EF-496E-AE6C-AB59E0F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puntos en la rúbrica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AA170F6A-43AC-4E40-84A8-7BC7501E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El producto debe ser funcional y comprensible.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E51AFDF3-02DB-4AA5-BA88-B65C13CC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0A84C6"/>
                </a:solidFill>
              </a:defRPr>
            </a:pPr>
            <a:r>
              <a:rPr sz="3900" b="1">
                <a:solidFill>
                  <a:srgbClr val="0A84C6"/>
                </a:solidFill>
              </a:rPr>
              <a:t>2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510973A0-0DF6-4638-8E76-1D33A1C5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57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28FBAD15-61B3-4A7B-8C3C-9F4C57F5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fuentes verificadas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9C5CC993-F15D-45BF-917A-A42BD88B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Con autoría, fecha, propósito y enlace.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D29492E-DEA8-4702-8565-888BCBAE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5A524"/>
                </a:solidFill>
              </a:defRPr>
            </a:pPr>
            <a:r>
              <a:rPr sz="3900" b="1">
                <a:solidFill>
                  <a:srgbClr val="F5A524"/>
                </a:solidFill>
              </a:rPr>
              <a:t>100 %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5F16910-0A8A-4588-8C67-60C1939B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57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DF9AD6CE-982E-4B9C-92F1-99EF7606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de evidencias entregadas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61A7592-5816-43D4-8B23-CFF124C2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Dentro de plazo y sin datos personales.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4A282AA1-7087-4D79-B973-D020AAD8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9F0FD7D-3F1D-42A0-9DE8-916C26DD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63A"/>
                </a:solidFill>
              </a:defRPr>
            </a:pPr>
            <a:r>
              <a:rPr sz="1425" b="1">
                <a:solidFill>
                  <a:srgbClr val="10263A"/>
                </a:solidFill>
              </a:rPr>
              <a:t>Las mejoras posteriores a la revisión también cuentan como aprendizaje.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EE311C1-1029-4E19-9F49-B6E5ED3B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4.º ESO · 2026–2027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405FB3CF-CC10-4B2C-B807-80F103E4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02600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02787210-8F85-45A2-AA0D-4FD217EC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09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1A4578A1-6D76-488E-94B8-DBF68546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La ciudadanía digital se demuestra con decisiones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7EBE4967-A310-490C-AA31-97CBFCFD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9D7E4"/>
                </a:solidFill>
              </a:defRPr>
            </a:pPr>
            <a:r>
              <a:rPr sz="1350" b="0">
                <a:solidFill>
                  <a:srgbClr val="B9D7E4"/>
                </a:solidFill>
              </a:rPr>
              <a:t>Privacidad, autoría y comunicación forman parte del trabajo.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669A9C7-4D5E-43BC-863B-21089113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9734E7E7-6AAE-46B7-85B9-A07BABC7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7DFF579-8C60-4A03-989F-5E0EC6A7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DATOS MÍNIMOS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61F803B-8A3B-479D-87BD-BA1A04BE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No publiques información personal innecesaria.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CA63D84D-B975-4C03-9EA5-82552801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955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DB886226-A7C7-4BC9-8BA7-850A2C56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194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02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4C928136-1A00-4CBB-A8DA-CC0C7BAA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194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PERMISO JUSTO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C5FA5CE-C6E5-4663-B709-C98DFD90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194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Da solo el acceso necesario para cada tarea.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F47D3831-16B4-40AC-BF5C-6529BF14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718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4A59A956-8714-4751-9CCC-AA1D301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957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03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52B561A5-1B18-46A0-AADE-8DF379A8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957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AUTORÍA VISIBLE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F00738B-617A-42A4-AF8D-079C3F1D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957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Cita las fuentes y respeta sus licencias.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6F6312F-0AA4-4642-B711-6922506B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481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7194058C-81DD-47AA-8E9D-61D5683A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04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B96D10-AE4B-4F2B-A6F2-6D56D6D7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720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IA RESPONSABLE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5AB74551-61FC-4D10-90DD-F5D8129F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720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Declara su uso, contrasta y corrige el resultado.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5DDC78CD-5021-433F-A7F9-093497A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244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4BE5E86-10AD-4A0E-9651-10664B37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ESO Informática · 4.º ESO · 2026–2027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E68F87FD-DA4A-47BB-B365-3D52931B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70910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E16C36FD-9267-471F-8F03-A77DE120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10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9048E64-4A2F-4187-A8BC-304C3A51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El bloque termina con un sistema digital para un equipo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5B8E2DE6-6078-4D71-9615-DBC359FE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Reto: organizar, compartir y documentar tu primer portfolio del curso.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C0113F92-2E98-4D29-988E-50045949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55EAD125-0598-487A-8EA0-91EE80CF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BD508FB-EB21-40C9-B767-838D9270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EE22B3F9-5A1D-41F0-A2CA-5ADBECAD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71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63A"/>
                </a:solidFill>
              </a:defRPr>
            </a:pPr>
            <a:r>
              <a:rPr sz="1500" b="0">
                <a:solidFill>
                  <a:srgbClr val="10263A"/>
                </a:solidFill>
              </a:rPr>
              <a:t>Diseñar una estructura escalable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12DB728B-909B-412B-BF77-8DA7E48D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BC72B655-E484-418C-B70A-607BF1A3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4FA4AD48-A8E0-4367-8ABB-F4E70AD9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57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63A"/>
                </a:solidFill>
              </a:defRPr>
            </a:pPr>
            <a:r>
              <a:rPr sz="1500" b="0">
                <a:solidFill>
                  <a:srgbClr val="10263A"/>
                </a:solidFill>
              </a:rPr>
              <a:t>Definir nombres, versiones y responsables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A6F5220B-7D22-465B-9424-E78B1BDC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42243CE5-0894-4830-A02E-12914385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EA86A540-9B19-4918-B774-A41A72EE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43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63A"/>
                </a:solidFill>
              </a:defRPr>
            </a:pPr>
            <a:r>
              <a:rPr sz="1500" b="0">
                <a:solidFill>
                  <a:srgbClr val="10263A"/>
                </a:solidFill>
              </a:rPr>
              <a:t>Crear una matriz de permisos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EA12C74B-4AB0-4F7A-A899-063F49FF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AC702AA-0302-4BD6-9F0A-FE6E121F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5A092CD-6157-4CE6-924B-1CDDB6D6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29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63A"/>
                </a:solidFill>
              </a:defRPr>
            </a:pPr>
            <a:r>
              <a:rPr sz="1500" b="0">
                <a:solidFill>
                  <a:srgbClr val="10263A"/>
                </a:solidFill>
              </a:rPr>
              <a:t>Resolver un conflicto de versiones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94965C-349C-4D93-A424-3F02E0F8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D71B39A3-7DC6-49B6-A177-C74AD556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6D11C738-0F6E-4AC5-BC11-5F0D8609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4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63A"/>
                </a:solidFill>
              </a:defRPr>
            </a:pPr>
            <a:r>
              <a:rPr sz="1500" b="1">
                <a:solidFill>
                  <a:srgbClr val="10263A"/>
                </a:solidFill>
              </a:rPr>
              <a:t>Redactar un decálogo de ciudadanía digital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1E9BC2C6-582D-4511-902B-41A35779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531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84C6"/>
                </a:solidFill>
              </a:defRPr>
            </a:pPr>
            <a:r>
              <a:rPr sz="1500" b="1">
                <a:solidFill>
                  <a:srgbClr val="0A84C6"/>
                </a:solidFill>
              </a:rPr>
              <a:t>Objetivo: que puedas encontrar, explicar y proteger tu trabajo sin ayuda.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02C0672-C6ED-4ED2-AB34-24E1474D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4.º ESO · 2026–2027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FFEC64B-8030-4915-9158-8C26B0C3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40552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241ECEB-73AC-4144-B505-C2852385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84AF556D-91B6-4BB9-A04E-7C4C93B1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Empezamos poniendo orden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en nuestra vida digital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3177407-8D4D-478A-9659-C53C468D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B9D7E4"/>
                </a:solidFill>
              </a:defRPr>
            </a:pPr>
            <a:r>
              <a:rPr sz="1725" b="0">
                <a:solidFill>
                  <a:srgbClr val="B9D7E4"/>
                </a:solidFill>
              </a:rPr>
              <a:t>Abre tu espacio de trabajo, prepara tus dudas y conserva cada evidencia.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75A1B15-4C8B-4348-B56E-21F6C43C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TEORÍA Y MATERIALES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F9A9DDB-8ED9-4535-85F4-ED74AA79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github.com/davidmolinafernadez/ESO_INFORMATICA_MATERIALES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6C8EF8B-D787-4DC1-B9D4-15AB23DA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63A9368C-3851-4231-A7F0-EEC0DB6A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9D7E4"/>
                </a:solidFill>
              </a:defRPr>
            </a:pPr>
            <a:r>
              <a:rPr sz="1350" b="0">
                <a:solidFill>
                  <a:srgbClr val="B9D7E4"/>
                </a:solidFill>
              </a:rPr>
              <a:t>Aules · Correo oficial del centro · Repositorio de materiales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AB006DB8-2C90-4869-A0E4-AEBEAA9A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00125"/>
            <a:ext cx="233362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97262722-5D37-46C0-9905-464007E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00125"/>
            <a:ext cx="23336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C6B38CD2-F104-4A44-88A2-6B8C7C31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2026–2027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F7B54AC6-EF81-4861-91B6-74FA4969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ESO Informática · 4.º ESO · 2026–2027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F2934AEC-AEAD-4392-8B3E-E389FDD7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85089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0957496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77471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2026-08-24T15:57:14.8100000Z</dcterms:created>
  <dcterms:modified xsi:type="dcterms:W3CDTF">2026-08-24T15:57:14.8100000Z</dcterms:modified>
</coreProperties>
</file>